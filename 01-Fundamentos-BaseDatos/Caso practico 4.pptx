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jalla One"/>
      <p:regular r:id="rId26"/>
    </p:embeddedFont>
    <p:embeddedFont>
      <p:font typeface="Barlow Semi Condensed Medium"/>
      <p:regular r:id="rId27"/>
      <p:bold r:id="rId28"/>
      <p:italic r:id="rId29"/>
      <p:boldItalic r:id="rId30"/>
    </p:embeddedFont>
    <p:embeddedFont>
      <p:font typeface="Barlow Semi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628CE-2586-43D3-8E26-C626896038A6}">
  <a:tblStyle styleId="{01B628CE-2586-43D3-8E26-C626896038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jallaOne-regular.fntdata"/><Relationship Id="rId25" Type="http://schemas.openxmlformats.org/officeDocument/2006/relationships/slide" Target="slides/slide20.xml"/><Relationship Id="rId28" Type="http://schemas.openxmlformats.org/officeDocument/2006/relationships/font" Target="fonts/BarlowSemiCondensedMedium-bold.fntdata"/><Relationship Id="rId27" Type="http://schemas.openxmlformats.org/officeDocument/2006/relationships/font" Target="fonts/BarlowSemiCondensed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-regular.fntdata"/><Relationship Id="rId30" Type="http://schemas.openxmlformats.org/officeDocument/2006/relationships/font" Target="fonts/BarlowSemiCondensed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SemiCondensed-italic.fntdata"/><Relationship Id="rId10" Type="http://schemas.openxmlformats.org/officeDocument/2006/relationships/slide" Target="slides/slide5.xml"/><Relationship Id="rId32" Type="http://schemas.openxmlformats.org/officeDocument/2006/relationships/font" Target="fonts/BarlowSemiCondense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BarlowSemiCondense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e350bb843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3e350bb843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g3e350bb84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1" name="Google Shape;2161;g3e350bb84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e350bb843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3e350bb843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3e350bb843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3e350bb843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3e350bb84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3e350bb84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3e350bb843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3e350bb843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e350bb843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3e350bb843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1" name="Google Shape;2241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86fa6133bc_4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86fa6133bc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3e9878500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3e9878500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3e9878500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3e9878500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g86fa6133bc_4_2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5" name="Google Shape;2295;g86fa6133bc_4_2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g8728718f4e_1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2" name="Google Shape;2302;g8728718f4e_1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8714a43093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7" name="Google Shape;2307;g8714a43093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3e98785004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3e98785004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92660" y="9598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4120825" y="1942350"/>
            <a:ext cx="4812600" cy="13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Sistema de inscripción a cursos extracurriculares</a:t>
            </a:r>
            <a:endParaRPr sz="44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354050" y="3414100"/>
            <a:ext cx="3684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L</a:t>
            </a:r>
            <a:r>
              <a:rPr lang="en" sz="2000"/>
              <a:t>aura Lucero Mendoza Davalos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Gerardo Emmanuel Guerrero Cerón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Ian Uriel Rizo Zúñiga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34"/>
          <p:cNvSpPr/>
          <p:nvPr/>
        </p:nvSpPr>
        <p:spPr>
          <a:xfrm>
            <a:off x="2000150" y="588650"/>
            <a:ext cx="421200" cy="3579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887" name="Google Shape;1887;p34"/>
          <p:cNvSpPr txBox="1"/>
          <p:nvPr>
            <p:ph type="title"/>
          </p:nvPr>
        </p:nvSpPr>
        <p:spPr>
          <a:xfrm>
            <a:off x="-195525" y="2062226"/>
            <a:ext cx="2406300" cy="1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Problemática</a:t>
            </a:r>
            <a:r>
              <a:rPr lang="en"/>
              <a:t> </a:t>
            </a:r>
            <a:endParaRPr/>
          </a:p>
        </p:txBody>
      </p:sp>
      <p:sp>
        <p:nvSpPr>
          <p:cNvPr id="1888" name="Google Shape;1888;p34"/>
          <p:cNvSpPr txBox="1"/>
          <p:nvPr/>
        </p:nvSpPr>
        <p:spPr>
          <a:xfrm>
            <a:off x="2210775" y="1037450"/>
            <a:ext cx="3038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Las organización de las inscripciones de la universidad son de  manera </a:t>
            </a:r>
            <a:r>
              <a:rPr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física</a:t>
            </a:r>
            <a:r>
              <a:rPr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es decir con formatos impresos. Al iniciar el periodo de inscripciones la coordinación no tiene un control provocando distintos conflictos.</a:t>
            </a:r>
            <a:endParaRPr sz="20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89" name="Google Shape;1889;p34"/>
          <p:cNvSpPr/>
          <p:nvPr/>
        </p:nvSpPr>
        <p:spPr>
          <a:xfrm>
            <a:off x="5248850" y="736925"/>
            <a:ext cx="120300" cy="904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4"/>
          <p:cNvSpPr txBox="1"/>
          <p:nvPr/>
        </p:nvSpPr>
        <p:spPr>
          <a:xfrm>
            <a:off x="5369175" y="788975"/>
            <a:ext cx="197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Saturación de estudiantes</a:t>
            </a:r>
            <a:endParaRPr b="1" sz="20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1" name="Google Shape;1891;p34"/>
          <p:cNvSpPr/>
          <p:nvPr/>
        </p:nvSpPr>
        <p:spPr>
          <a:xfrm>
            <a:off x="5309000" y="1908950"/>
            <a:ext cx="120300" cy="109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4"/>
          <p:cNvSpPr txBox="1"/>
          <p:nvPr/>
        </p:nvSpPr>
        <p:spPr>
          <a:xfrm>
            <a:off x="5429300" y="1701163"/>
            <a:ext cx="2992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Falta de control de los estudiantes en cuanto a los talleres que están inscritos.</a:t>
            </a:r>
            <a:endParaRPr b="1" sz="20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3" name="Google Shape;1893;p34"/>
          <p:cNvSpPr/>
          <p:nvPr/>
        </p:nvSpPr>
        <p:spPr>
          <a:xfrm>
            <a:off x="5308988" y="3315500"/>
            <a:ext cx="120300" cy="904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4"/>
          <p:cNvSpPr txBox="1"/>
          <p:nvPr/>
        </p:nvSpPr>
        <p:spPr>
          <a:xfrm>
            <a:off x="5429288" y="3367550"/>
            <a:ext cx="197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Lentitud administrativa</a:t>
            </a:r>
            <a:endParaRPr b="1" sz="20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9" name="Google Shape;1899;p35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900" name="Google Shape;1900;p35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5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5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5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5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9" name="Google Shape;2109;p35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10" name="Google Shape;2110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11" name="Google Shape;2111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3" name="Google Shape;2113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4" name="Google Shape;2114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5" name="Google Shape;2115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6" name="Google Shape;2116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7" name="Google Shape;2117;p35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8" name="Google Shape;2118;p3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9" name="Google Shape;2119;p3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1" name="Google Shape;2121;p3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22" name="Google Shape;2122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3" name="Google Shape;2123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4" name="Google Shape;2124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5" name="Google Shape;2125;p35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6" name="Google Shape;2126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7" name="Google Shape;2127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9" name="Google Shape;2129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30" name="Google Shape;2130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1" name="Google Shape;2131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2" name="Google Shape;2132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3" name="Google Shape;2133;p35"/>
          <p:cNvGrpSpPr/>
          <p:nvPr/>
        </p:nvGrpSpPr>
        <p:grpSpPr>
          <a:xfrm>
            <a:off x="731647" y="3866833"/>
            <a:ext cx="635100" cy="734704"/>
            <a:chOff x="731647" y="3806675"/>
            <a:chExt cx="635100" cy="734704"/>
          </a:xfrm>
        </p:grpSpPr>
        <p:grpSp>
          <p:nvGrpSpPr>
            <p:cNvPr id="2134" name="Google Shape;2134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5" name="Google Shape;2135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7" name="Google Shape;2137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8" name="Google Shape;2138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9" name="Google Shape;2139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40" name="Google Shape;2140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41" name="Google Shape;2141;p35"/>
          <p:cNvSpPr txBox="1"/>
          <p:nvPr>
            <p:ph type="title"/>
          </p:nvPr>
        </p:nvSpPr>
        <p:spPr>
          <a:xfrm>
            <a:off x="5922074" y="57356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Lista de datos a almacenar </a:t>
            </a:r>
            <a:endParaRPr/>
          </a:p>
        </p:txBody>
      </p:sp>
      <p:sp>
        <p:nvSpPr>
          <p:cNvPr id="2142" name="Google Shape;2142;p35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Matrícula, carrera,grupo, correo y </a:t>
            </a:r>
            <a:r>
              <a:rPr lang="en"/>
              <a:t>teléfono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3" name="Google Shape;2143;p35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Alumnos</a:t>
            </a:r>
            <a:endParaRPr/>
          </a:p>
        </p:txBody>
      </p:sp>
      <p:sp>
        <p:nvSpPr>
          <p:cNvPr id="2144" name="Google Shape;2144;p35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Cursos</a:t>
            </a:r>
            <a:endParaRPr/>
          </a:p>
        </p:txBody>
      </p:sp>
      <p:sp>
        <p:nvSpPr>
          <p:cNvPr id="2145" name="Google Shape;2145;p35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Descripción, cupo límite y horario</a:t>
            </a:r>
            <a:endParaRPr/>
          </a:p>
        </p:txBody>
      </p:sp>
      <p:sp>
        <p:nvSpPr>
          <p:cNvPr id="2146" name="Google Shape;2146;p35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Docentes</a:t>
            </a:r>
            <a:endParaRPr/>
          </a:p>
        </p:txBody>
      </p:sp>
      <p:sp>
        <p:nvSpPr>
          <p:cNvPr id="2147" name="Google Shape;2147;p35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Registro de los profesores responsables que van a impartir el taller o los talleres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8" name="Google Shape;2148;p35"/>
          <p:cNvSpPr txBox="1"/>
          <p:nvPr>
            <p:ph idx="7" type="subTitle"/>
          </p:nvPr>
        </p:nvSpPr>
        <p:spPr>
          <a:xfrm>
            <a:off x="1664208" y="3756981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Inscripciones</a:t>
            </a:r>
            <a:endParaRPr/>
          </a:p>
        </p:txBody>
      </p:sp>
      <p:sp>
        <p:nvSpPr>
          <p:cNvPr id="2149" name="Google Shape;2149;p35"/>
          <p:cNvSpPr txBox="1"/>
          <p:nvPr>
            <p:ph idx="8" type="subTitle"/>
          </p:nvPr>
        </p:nvSpPr>
        <p:spPr>
          <a:xfrm>
            <a:off x="1664208" y="4025405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Estado </a:t>
            </a:r>
            <a:r>
              <a:rPr lang="en"/>
              <a:t>formal</a:t>
            </a:r>
            <a:r>
              <a:rPr lang="en"/>
              <a:t> de cada inscripción</a:t>
            </a:r>
            <a:endParaRPr/>
          </a:p>
        </p:txBody>
      </p:sp>
      <p:sp>
        <p:nvSpPr>
          <p:cNvPr id="2150" name="Google Shape;2150;p35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1" name="Google Shape;2151;p35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52" name="Google Shape;2152;p35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3" name="Google Shape;2153;p35"/>
          <p:cNvSpPr txBox="1"/>
          <p:nvPr>
            <p:ph idx="15" type="title"/>
          </p:nvPr>
        </p:nvSpPr>
        <p:spPr>
          <a:xfrm>
            <a:off x="813816" y="401951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36"/>
          <p:cNvSpPr txBox="1"/>
          <p:nvPr>
            <p:ph type="title"/>
          </p:nvPr>
        </p:nvSpPr>
        <p:spPr>
          <a:xfrm>
            <a:off x="2451425" y="1849850"/>
            <a:ext cx="4181100" cy="12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Usuarios del sistema</a:t>
            </a:r>
            <a:endParaRPr sz="3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7"/>
          <p:cNvSpPr txBox="1"/>
          <p:nvPr>
            <p:ph type="title"/>
          </p:nvPr>
        </p:nvSpPr>
        <p:spPr>
          <a:xfrm>
            <a:off x="2971800" y="2396570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Usuarios finales Estudiantes</a:t>
            </a:r>
            <a:endParaRPr/>
          </a:p>
        </p:txBody>
      </p:sp>
      <p:sp>
        <p:nvSpPr>
          <p:cNvPr id="2164" name="Google Shape;2164;p37"/>
          <p:cNvSpPr txBox="1"/>
          <p:nvPr>
            <p:ph idx="2" type="title"/>
          </p:nvPr>
        </p:nvSpPr>
        <p:spPr>
          <a:xfrm>
            <a:off x="2971800" y="1326722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38"/>
          <p:cNvSpPr txBox="1"/>
          <p:nvPr>
            <p:ph idx="1" type="subTitle"/>
          </p:nvPr>
        </p:nvSpPr>
        <p:spPr>
          <a:xfrm>
            <a:off x="1571550" y="1675750"/>
            <a:ext cx="6000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Actuarían de usuario finales para inscripciones a los cursos de la universidad. Un alumno puede visualizar sus estadísticas de talleres pero no podrá conocer las de otro estudiante.</a:t>
            </a:r>
            <a:endParaRPr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39"/>
          <p:cNvSpPr txBox="1"/>
          <p:nvPr>
            <p:ph type="title"/>
          </p:nvPr>
        </p:nvSpPr>
        <p:spPr>
          <a:xfrm>
            <a:off x="2598821" y="2261209"/>
            <a:ext cx="38862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Usuarios operativos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Docentes</a:t>
            </a:r>
            <a:endParaRPr/>
          </a:p>
        </p:txBody>
      </p:sp>
      <p:sp>
        <p:nvSpPr>
          <p:cNvPr id="2175" name="Google Shape;2175;p39"/>
          <p:cNvSpPr txBox="1"/>
          <p:nvPr>
            <p:ph idx="2" type="title"/>
          </p:nvPr>
        </p:nvSpPr>
        <p:spPr>
          <a:xfrm>
            <a:off x="2971800" y="1281604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40"/>
          <p:cNvSpPr txBox="1"/>
          <p:nvPr>
            <p:ph idx="1" type="subTitle"/>
          </p:nvPr>
        </p:nvSpPr>
        <p:spPr>
          <a:xfrm>
            <a:off x="1819775" y="1495270"/>
            <a:ext cx="58806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Tienen </a:t>
            </a:r>
            <a:r>
              <a:rPr lang="en" sz="2400"/>
              <a:t>más</a:t>
            </a:r>
            <a:r>
              <a:rPr lang="en" sz="2400"/>
              <a:t> privilegios que los estudiantes, ellos pueden visualizar su agenda semanal, registrar las observaciones y diagnósticos de las sesiones concluidas, y marcar la asistencia o inasistencia del alumno.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41"/>
          <p:cNvSpPr txBox="1"/>
          <p:nvPr>
            <p:ph type="title"/>
          </p:nvPr>
        </p:nvSpPr>
        <p:spPr>
          <a:xfrm>
            <a:off x="2337067" y="2426637"/>
            <a:ext cx="4352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Coordinacion interna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Administradores</a:t>
            </a:r>
            <a:endParaRPr/>
          </a:p>
        </p:txBody>
      </p:sp>
      <p:sp>
        <p:nvSpPr>
          <p:cNvPr id="2186" name="Google Shape;2186;p41"/>
          <p:cNvSpPr txBox="1"/>
          <p:nvPr>
            <p:ph idx="2" type="title"/>
          </p:nvPr>
        </p:nvSpPr>
        <p:spPr>
          <a:xfrm>
            <a:off x="2971800" y="1356801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42"/>
          <p:cNvSpPr txBox="1"/>
          <p:nvPr>
            <p:ph idx="1" type="subTitle"/>
          </p:nvPr>
        </p:nvSpPr>
        <p:spPr>
          <a:xfrm>
            <a:off x="2052900" y="713175"/>
            <a:ext cx="5038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Los usuarios que poseen este perfil </a:t>
            </a:r>
            <a:r>
              <a:rPr lang="en" sz="2400"/>
              <a:t>tendrán</a:t>
            </a:r>
            <a:r>
              <a:rPr lang="en" sz="2400"/>
              <a:t> </a:t>
            </a:r>
            <a:r>
              <a:rPr lang="en" sz="2400"/>
              <a:t>máximos</a:t>
            </a:r>
            <a:r>
              <a:rPr lang="en" sz="2400"/>
              <a:t> privilegios dentro del </a:t>
            </a:r>
            <a:r>
              <a:rPr lang="en" sz="2400"/>
              <a:t>área</a:t>
            </a:r>
            <a:r>
              <a:rPr lang="en" sz="2400"/>
              <a:t> que administren teniendo control total de: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Dar de alta cursos.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Asignar docentes a los talleres.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Monitorear el comportamiento de </a:t>
            </a:r>
            <a:r>
              <a:rPr lang="en" sz="2400"/>
              <a:t>inscripciones.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Resolver cualquier problema.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6" name="Google Shape;2196;p43"/>
          <p:cNvGraphicFramePr/>
          <p:nvPr/>
        </p:nvGraphicFramePr>
        <p:xfrm>
          <a:off x="1123500" y="147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{01B628CE-2586-43D3-8E26-C626896038A6}</a:tableStyleId>
              </a:tblPr>
              <a:tblGrid>
                <a:gridCol w="3448500"/>
                <a:gridCol w="3448500"/>
              </a:tblGrid>
              <a:tr h="6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Alumno</a:t>
                      </a:r>
                      <a:endParaRPr sz="2000">
                        <a:solidFill>
                          <a:schemeClr val="lt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325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Curso</a:t>
                      </a:r>
                      <a:endParaRPr sz="2000">
                        <a:solidFill>
                          <a:schemeClr val="lt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325D79"/>
                    </a:solidFill>
                  </a:tcPr>
                </a:tc>
              </a:tr>
              <a:tr h="13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Matricula.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Nombre.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Carrera.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Grupo.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Cuatrimestre.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Correo electronico.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Telefono.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ID del curso.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Nombre del curso.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Duracion.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Horario.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Cupo maximo.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Horas totales.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197" name="Google Shape;2197;p43"/>
          <p:cNvSpPr txBox="1"/>
          <p:nvPr>
            <p:ph idx="4294967295"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Tablas identificadas</a:t>
            </a:r>
            <a:endParaRPr/>
          </a:p>
        </p:txBody>
      </p:sp>
      <p:sp>
        <p:nvSpPr>
          <p:cNvPr id="2198" name="Google Shape;2198;p43"/>
          <p:cNvSpPr/>
          <p:nvPr/>
        </p:nvSpPr>
        <p:spPr>
          <a:xfrm>
            <a:off x="1269250" y="239170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3"/>
          <p:cNvSpPr/>
          <p:nvPr/>
        </p:nvSpPr>
        <p:spPr>
          <a:xfrm>
            <a:off x="1269250" y="26217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43"/>
          <p:cNvSpPr/>
          <p:nvPr/>
        </p:nvSpPr>
        <p:spPr>
          <a:xfrm>
            <a:off x="1269250" y="285185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43"/>
          <p:cNvSpPr/>
          <p:nvPr/>
        </p:nvSpPr>
        <p:spPr>
          <a:xfrm>
            <a:off x="1269250" y="3081913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3"/>
          <p:cNvSpPr/>
          <p:nvPr/>
        </p:nvSpPr>
        <p:spPr>
          <a:xfrm>
            <a:off x="1269250" y="331200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43"/>
          <p:cNvSpPr/>
          <p:nvPr/>
        </p:nvSpPr>
        <p:spPr>
          <a:xfrm>
            <a:off x="1269250" y="35178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43"/>
          <p:cNvSpPr/>
          <p:nvPr/>
        </p:nvSpPr>
        <p:spPr>
          <a:xfrm>
            <a:off x="4720125" y="239170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3"/>
          <p:cNvSpPr/>
          <p:nvPr/>
        </p:nvSpPr>
        <p:spPr>
          <a:xfrm>
            <a:off x="4720125" y="26217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43"/>
          <p:cNvSpPr/>
          <p:nvPr/>
        </p:nvSpPr>
        <p:spPr>
          <a:xfrm>
            <a:off x="4720125" y="285185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43"/>
          <p:cNvSpPr/>
          <p:nvPr/>
        </p:nvSpPr>
        <p:spPr>
          <a:xfrm>
            <a:off x="4720125" y="308192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3"/>
          <p:cNvSpPr/>
          <p:nvPr/>
        </p:nvSpPr>
        <p:spPr>
          <a:xfrm>
            <a:off x="4720125" y="331200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3"/>
          <p:cNvSpPr/>
          <p:nvPr/>
        </p:nvSpPr>
        <p:spPr>
          <a:xfrm>
            <a:off x="1269250" y="372375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43"/>
          <p:cNvSpPr/>
          <p:nvPr/>
        </p:nvSpPr>
        <p:spPr>
          <a:xfrm>
            <a:off x="4720125" y="35178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5" name="Google Shape;2215;p44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216" name="Google Shape;2216;p4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17" name="Google Shape;2217;p4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18" name="Google Shape;2218;p4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219" name="Google Shape;2219;p44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220" name="Google Shape;2220;p4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21" name="Google Shape;2221;p4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22" name="Google Shape;2222;p4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223" name="Google Shape;2223;p44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224" name="Google Shape;2224;p4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25" name="Google Shape;2225;p4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26" name="Google Shape;2226;p4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27" name="Google Shape;2227;p4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Tablas identificadas</a:t>
            </a:r>
            <a:endParaRPr/>
          </a:p>
        </p:txBody>
      </p:sp>
      <p:graphicFrame>
        <p:nvGraphicFramePr>
          <p:cNvPr id="2228" name="Google Shape;2228;p44"/>
          <p:cNvGraphicFramePr/>
          <p:nvPr/>
        </p:nvGraphicFramePr>
        <p:xfrm>
          <a:off x="1169325" y="130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{01B628CE-2586-43D3-8E26-C626896038A6}</a:tableStyleId>
              </a:tblPr>
              <a:tblGrid>
                <a:gridCol w="3338700"/>
                <a:gridCol w="3338700"/>
              </a:tblGrid>
              <a:tr h="68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Docente</a:t>
                      </a:r>
                      <a:endParaRPr sz="2000">
                        <a:solidFill>
                          <a:schemeClr val="lt1"/>
                        </a:solidFill>
                        <a:highlight>
                          <a:schemeClr val="accent1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solidFill>
                      <a:srgbClr val="325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Inscripción</a:t>
                      </a:r>
                      <a:endParaRPr sz="2000">
                        <a:solidFill>
                          <a:schemeClr val="lt1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325D79"/>
                    </a:solidFill>
                  </a:tcPr>
                </a:tc>
              </a:tr>
              <a:tr h="146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ID del docente.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Nombre.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Especialidad.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Curso asignado.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ID inscripcion.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Matrícula del estudiante.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Nombre del curso.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Fecha del registro.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Estado de </a:t>
                      </a:r>
                      <a:r>
                        <a:rPr lang="en" sz="1500"/>
                        <a:t>inscripción</a:t>
                      </a:r>
                      <a:r>
                        <a:rPr lang="en" sz="1500"/>
                        <a:t>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  Cupo maximo.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229" name="Google Shape;2229;p44"/>
          <p:cNvSpPr/>
          <p:nvPr/>
        </p:nvSpPr>
        <p:spPr>
          <a:xfrm>
            <a:off x="1324500" y="20989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44"/>
          <p:cNvSpPr/>
          <p:nvPr/>
        </p:nvSpPr>
        <p:spPr>
          <a:xfrm>
            <a:off x="1324500" y="23233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4"/>
          <p:cNvSpPr/>
          <p:nvPr/>
        </p:nvSpPr>
        <p:spPr>
          <a:xfrm>
            <a:off x="1324500" y="254780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44"/>
          <p:cNvSpPr/>
          <p:nvPr/>
        </p:nvSpPr>
        <p:spPr>
          <a:xfrm>
            <a:off x="1324500" y="278965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4"/>
          <p:cNvSpPr/>
          <p:nvPr/>
        </p:nvSpPr>
        <p:spPr>
          <a:xfrm>
            <a:off x="4659500" y="209897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44"/>
          <p:cNvSpPr/>
          <p:nvPr/>
        </p:nvSpPr>
        <p:spPr>
          <a:xfrm>
            <a:off x="4659500" y="232612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4"/>
          <p:cNvSpPr/>
          <p:nvPr/>
        </p:nvSpPr>
        <p:spPr>
          <a:xfrm>
            <a:off x="4659500" y="2557888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44"/>
          <p:cNvSpPr/>
          <p:nvPr/>
        </p:nvSpPr>
        <p:spPr>
          <a:xfrm>
            <a:off x="4659500" y="2789650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4"/>
          <p:cNvSpPr/>
          <p:nvPr/>
        </p:nvSpPr>
        <p:spPr>
          <a:xfrm>
            <a:off x="4659500" y="2996025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4"/>
          <p:cNvSpPr/>
          <p:nvPr/>
        </p:nvSpPr>
        <p:spPr>
          <a:xfrm>
            <a:off x="4659500" y="3223538"/>
            <a:ext cx="204000" cy="18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45"/>
          <p:cNvSpPr txBox="1"/>
          <p:nvPr>
            <p:ph type="title"/>
          </p:nvPr>
        </p:nvSpPr>
        <p:spPr>
          <a:xfrm>
            <a:off x="1568850" y="4106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Relaciones entre datos</a:t>
            </a:r>
            <a:endParaRPr/>
          </a:p>
        </p:txBody>
      </p:sp>
      <p:graphicFrame>
        <p:nvGraphicFramePr>
          <p:cNvPr id="2244" name="Google Shape;2244;p45"/>
          <p:cNvGraphicFramePr/>
          <p:nvPr/>
        </p:nvGraphicFramePr>
        <p:xfrm>
          <a:off x="832200" y="138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{01B628CE-2586-43D3-8E26-C626896038A6}</a:tableStyleId>
              </a:tblPr>
              <a:tblGrid>
                <a:gridCol w="2413000"/>
                <a:gridCol w="2413000"/>
                <a:gridCol w="2413000"/>
              </a:tblGrid>
              <a:tr h="53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Alumnos      Cursos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Docente      Cursos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Tabla intermedia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Inscripción</a:t>
                      </a:r>
                      <a:r>
                        <a:rPr lang="en" sz="2000">
                          <a:solidFill>
                            <a:schemeClr val="accent1"/>
                          </a:solidFill>
                        </a:rPr>
                        <a:t>)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86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Un alumno puede estar en </a:t>
                      </a:r>
                      <a:r>
                        <a:rPr b="1"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 </a:t>
                      </a: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cantidad de cursos por otro lado un curso puede tener </a:t>
                      </a:r>
                      <a:r>
                        <a:rPr b="1"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 </a:t>
                      </a: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cantidad de alumnos.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Un docente puede ser responsable de varios cursos a la vez sin embargo un curso solo puede tener un docente.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Permite registrar qué alumno está inscrito en qué curso, además de almacenar información adicional.</a:t>
                      </a:r>
                      <a:endParaRPr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5" name="Google Shape;2245;p45"/>
          <p:cNvSpPr/>
          <p:nvPr/>
        </p:nvSpPr>
        <p:spPr>
          <a:xfrm>
            <a:off x="1952625" y="1571600"/>
            <a:ext cx="342000" cy="125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5"/>
          <p:cNvSpPr/>
          <p:nvPr/>
        </p:nvSpPr>
        <p:spPr>
          <a:xfrm>
            <a:off x="4329800" y="1571600"/>
            <a:ext cx="342000" cy="125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46"/>
          <p:cNvSpPr txBox="1"/>
          <p:nvPr>
            <p:ph type="title"/>
          </p:nvPr>
        </p:nvSpPr>
        <p:spPr>
          <a:xfrm>
            <a:off x="1823550" y="187153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</a:t>
            </a:r>
            <a:endParaRPr/>
          </a:p>
        </p:txBody>
      </p:sp>
      <p:sp>
        <p:nvSpPr>
          <p:cNvPr id="2252" name="Google Shape;2252;p46"/>
          <p:cNvSpPr txBox="1"/>
          <p:nvPr/>
        </p:nvSpPr>
        <p:spPr>
          <a:xfrm>
            <a:off x="1224650" y="876900"/>
            <a:ext cx="707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sistema realizará funciones a través de procesos automáticos, encargados de registrar, consultar, actualizar y eliminar la información: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53" name="Google Shape;2253;p46"/>
          <p:cNvSpPr txBox="1"/>
          <p:nvPr/>
        </p:nvSpPr>
        <p:spPr>
          <a:xfrm>
            <a:off x="1892850" y="1985100"/>
            <a:ext cx="542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Proceso de inscripción- Crear/Registrar</a:t>
            </a:r>
            <a:endParaRPr b="1"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Consultar la disponibilidad- Leer/Consultar</a:t>
            </a:r>
            <a:endParaRPr b="1"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Modificación de cupos y datos- Actualización</a:t>
            </a:r>
            <a:endParaRPr b="1"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Baja de talleres- Eliminar/Cancelar</a:t>
            </a:r>
            <a:endParaRPr b="1"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54" name="Google Shape;2254;p46"/>
          <p:cNvSpPr txBox="1"/>
          <p:nvPr/>
        </p:nvSpPr>
        <p:spPr>
          <a:xfrm>
            <a:off x="1068750" y="3629775"/>
            <a:ext cx="707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continuación se 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presenta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un  ejemplo del diagrama de flujo  del proceso de inscripción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7"/>
          <p:cNvSpPr/>
          <p:nvPr/>
        </p:nvSpPr>
        <p:spPr>
          <a:xfrm>
            <a:off x="952525" y="90800"/>
            <a:ext cx="1058400" cy="69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Inicio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0" name="Google Shape;2260;p47"/>
          <p:cNvSpPr/>
          <p:nvPr/>
        </p:nvSpPr>
        <p:spPr>
          <a:xfrm>
            <a:off x="828400" y="1406225"/>
            <a:ext cx="1452900" cy="6954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Alumno solicita curso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1" name="Google Shape;2261;p47"/>
          <p:cNvSpPr/>
          <p:nvPr/>
        </p:nvSpPr>
        <p:spPr>
          <a:xfrm>
            <a:off x="3066225" y="725825"/>
            <a:ext cx="1938000" cy="1028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¿Hay cupo disponible?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2" name="Google Shape;2262;p47"/>
          <p:cNvSpPr/>
          <p:nvPr/>
        </p:nvSpPr>
        <p:spPr>
          <a:xfrm>
            <a:off x="5654425" y="967738"/>
            <a:ext cx="1058346" cy="544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Cupo saturado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3" name="Google Shape;2263;p47"/>
          <p:cNvSpPr/>
          <p:nvPr/>
        </p:nvSpPr>
        <p:spPr>
          <a:xfrm>
            <a:off x="3089575" y="2458875"/>
            <a:ext cx="1844700" cy="1028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¿Tiene horario libre?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4" name="Google Shape;2264;p47"/>
          <p:cNvSpPr/>
          <p:nvPr/>
        </p:nvSpPr>
        <p:spPr>
          <a:xfrm>
            <a:off x="3532775" y="3809775"/>
            <a:ext cx="958200" cy="69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Registro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5" name="Google Shape;2265;p47"/>
          <p:cNvSpPr/>
          <p:nvPr/>
        </p:nvSpPr>
        <p:spPr>
          <a:xfrm>
            <a:off x="5298677" y="3809775"/>
            <a:ext cx="1175100" cy="69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Actualización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: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Cupo disponible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6" name="Google Shape;2266;p47"/>
          <p:cNvSpPr/>
          <p:nvPr/>
        </p:nvSpPr>
        <p:spPr>
          <a:xfrm>
            <a:off x="6955125" y="3885338"/>
            <a:ext cx="1058346" cy="544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Inscripción exitosa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7" name="Google Shape;2267;p47"/>
          <p:cNvSpPr/>
          <p:nvPr/>
        </p:nvSpPr>
        <p:spPr>
          <a:xfrm>
            <a:off x="6955100" y="2625225"/>
            <a:ext cx="1058400" cy="69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2268" name="Google Shape;2268;p47"/>
          <p:cNvCxnSpPr>
            <a:stCxn id="2259" idx="4"/>
            <a:endCxn id="2260" idx="0"/>
          </p:cNvCxnSpPr>
          <p:nvPr/>
        </p:nvCxnSpPr>
        <p:spPr>
          <a:xfrm>
            <a:off x="1481725" y="786200"/>
            <a:ext cx="7320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9" name="Google Shape;2269;p47"/>
          <p:cNvCxnSpPr>
            <a:stCxn id="2260" idx="2"/>
            <a:endCxn id="2261" idx="1"/>
          </p:cNvCxnSpPr>
          <p:nvPr/>
        </p:nvCxnSpPr>
        <p:spPr>
          <a:xfrm flipH="1" rot="10800000">
            <a:off x="2194375" y="1240025"/>
            <a:ext cx="871800" cy="5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0" name="Google Shape;2270;p47"/>
          <p:cNvCxnSpPr>
            <a:stCxn id="2261" idx="3"/>
            <a:endCxn id="2262" idx="1"/>
          </p:cNvCxnSpPr>
          <p:nvPr/>
        </p:nvCxnSpPr>
        <p:spPr>
          <a:xfrm>
            <a:off x="5004225" y="1239875"/>
            <a:ext cx="65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1" name="Google Shape;2271;p47"/>
          <p:cNvCxnSpPr>
            <a:stCxn id="2261" idx="2"/>
            <a:endCxn id="2263" idx="0"/>
          </p:cNvCxnSpPr>
          <p:nvPr/>
        </p:nvCxnSpPr>
        <p:spPr>
          <a:xfrm flipH="1">
            <a:off x="4011825" y="1753925"/>
            <a:ext cx="23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2" name="Google Shape;2272;p47"/>
          <p:cNvCxnSpPr>
            <a:stCxn id="2263" idx="2"/>
            <a:endCxn id="2264" idx="0"/>
          </p:cNvCxnSpPr>
          <p:nvPr/>
        </p:nvCxnSpPr>
        <p:spPr>
          <a:xfrm>
            <a:off x="4011925" y="3486975"/>
            <a:ext cx="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3" name="Google Shape;2273;p47"/>
          <p:cNvCxnSpPr>
            <a:stCxn id="2264" idx="3"/>
            <a:endCxn id="2265" idx="1"/>
          </p:cNvCxnSpPr>
          <p:nvPr/>
        </p:nvCxnSpPr>
        <p:spPr>
          <a:xfrm>
            <a:off x="4490975" y="4157475"/>
            <a:ext cx="8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4" name="Google Shape;2274;p47"/>
          <p:cNvCxnSpPr>
            <a:stCxn id="2265" idx="3"/>
            <a:endCxn id="2266" idx="1"/>
          </p:cNvCxnSpPr>
          <p:nvPr/>
        </p:nvCxnSpPr>
        <p:spPr>
          <a:xfrm>
            <a:off x="6473777" y="4157475"/>
            <a:ext cx="48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5" name="Google Shape;2275;p47"/>
          <p:cNvCxnSpPr>
            <a:stCxn id="2266" idx="0"/>
            <a:endCxn id="2267" idx="4"/>
          </p:cNvCxnSpPr>
          <p:nvPr/>
        </p:nvCxnSpPr>
        <p:spPr>
          <a:xfrm rot="10800000">
            <a:off x="7484298" y="3320738"/>
            <a:ext cx="0" cy="5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6" name="Google Shape;2276;p47"/>
          <p:cNvCxnSpPr>
            <a:stCxn id="2262" idx="3"/>
            <a:endCxn id="2267" idx="0"/>
          </p:cNvCxnSpPr>
          <p:nvPr/>
        </p:nvCxnSpPr>
        <p:spPr>
          <a:xfrm>
            <a:off x="6712771" y="1239871"/>
            <a:ext cx="771600" cy="1385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7" name="Google Shape;2277;p47"/>
          <p:cNvSpPr/>
          <p:nvPr/>
        </p:nvSpPr>
        <p:spPr>
          <a:xfrm>
            <a:off x="5415513" y="2700788"/>
            <a:ext cx="1058346" cy="544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Conflicto de horario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2278" name="Google Shape;2278;p47"/>
          <p:cNvCxnSpPr>
            <a:stCxn id="2263" idx="3"/>
            <a:endCxn id="2277" idx="1"/>
          </p:cNvCxnSpPr>
          <p:nvPr/>
        </p:nvCxnSpPr>
        <p:spPr>
          <a:xfrm>
            <a:off x="4934275" y="2972925"/>
            <a:ext cx="48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9" name="Google Shape;2279;p47"/>
          <p:cNvCxnSpPr>
            <a:stCxn id="2277" idx="3"/>
            <a:endCxn id="2267" idx="2"/>
          </p:cNvCxnSpPr>
          <p:nvPr/>
        </p:nvCxnSpPr>
        <p:spPr>
          <a:xfrm>
            <a:off x="6473858" y="2972921"/>
            <a:ext cx="48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0" name="Google Shape;2280;p47"/>
          <p:cNvSpPr txBox="1"/>
          <p:nvPr/>
        </p:nvSpPr>
        <p:spPr>
          <a:xfrm>
            <a:off x="5155600" y="952500"/>
            <a:ext cx="40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No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81" name="Google Shape;2281;p47"/>
          <p:cNvSpPr txBox="1"/>
          <p:nvPr/>
        </p:nvSpPr>
        <p:spPr>
          <a:xfrm>
            <a:off x="4035225" y="2027263"/>
            <a:ext cx="447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Si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82" name="Google Shape;2282;p47"/>
          <p:cNvSpPr txBox="1"/>
          <p:nvPr/>
        </p:nvSpPr>
        <p:spPr>
          <a:xfrm>
            <a:off x="4035225" y="3365088"/>
            <a:ext cx="447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Si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83" name="Google Shape;2283;p47"/>
          <p:cNvSpPr txBox="1"/>
          <p:nvPr/>
        </p:nvSpPr>
        <p:spPr>
          <a:xfrm>
            <a:off x="4839775" y="2581750"/>
            <a:ext cx="40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No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84" name="Google Shape;2284;p47"/>
          <p:cNvSpPr txBox="1"/>
          <p:nvPr>
            <p:ph type="title"/>
          </p:nvPr>
        </p:nvSpPr>
        <p:spPr>
          <a:xfrm>
            <a:off x="553975" y="3255150"/>
            <a:ext cx="25356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de </a:t>
            </a:r>
            <a:r>
              <a:rPr lang="en"/>
              <a:t>inscripción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48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Consultas</a:t>
            </a:r>
            <a:endParaRPr/>
          </a:p>
        </p:txBody>
      </p:sp>
      <p:sp>
        <p:nvSpPr>
          <p:cNvPr id="2290" name="Google Shape;2290;p48"/>
          <p:cNvSpPr txBox="1"/>
          <p:nvPr/>
        </p:nvSpPr>
        <p:spPr>
          <a:xfrm>
            <a:off x="1451425" y="911025"/>
            <a:ext cx="644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Gracias a que los datos están centralizados, el personal administrativo ya no tendrá que contar papeles uno por uno y 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291" name="Google Shape;2291;p48" title="Captura de pantalla 2026-05-19 232501.png"/>
          <p:cNvPicPr preferRelativeResize="0"/>
          <p:nvPr/>
        </p:nvPicPr>
        <p:blipFill rotWithShape="1">
          <a:blip r:embed="rId3">
            <a:alphaModFix/>
          </a:blip>
          <a:srcRect b="0" l="0" r="0" t="3110"/>
          <a:stretch/>
        </p:blipFill>
        <p:spPr>
          <a:xfrm>
            <a:off x="1055375" y="1995675"/>
            <a:ext cx="3976301" cy="21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48"/>
          <p:cNvSpPr txBox="1"/>
          <p:nvPr/>
        </p:nvSpPr>
        <p:spPr>
          <a:xfrm>
            <a:off x="5031675" y="1711425"/>
            <a:ext cx="3329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odrán obtener de manera inmediata reportes como: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Barlow Semi Condensed"/>
              <a:buChar char="●"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La lista oficial de alumnos inscritos en cada sección.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p49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298" name="Google Shape;2298;p49"/>
          <p:cNvSpPr txBox="1"/>
          <p:nvPr/>
        </p:nvSpPr>
        <p:spPr>
          <a:xfrm>
            <a:off x="1353475" y="438450"/>
            <a:ext cx="5782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 Semi Condensed"/>
              <a:buChar char="●"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 número exacto de lugares que quedan libres para inscripciones de última hora.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299" name="Google Shape;2299;p49" title="Captura de pantalla 2026-05-19 2335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425" y="1587825"/>
            <a:ext cx="5782800" cy="2509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50"/>
          <p:cNvSpPr txBox="1"/>
          <p:nvPr>
            <p:ph type="title"/>
          </p:nvPr>
        </p:nvSpPr>
        <p:spPr>
          <a:xfrm>
            <a:off x="2624325" y="1620750"/>
            <a:ext cx="4429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51"/>
          <p:cNvSpPr txBox="1"/>
          <p:nvPr/>
        </p:nvSpPr>
        <p:spPr>
          <a:xfrm>
            <a:off x="7415784" y="2139696"/>
            <a:ext cx="622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310" name="Google Shape;2310;p51"/>
          <p:cNvSpPr txBox="1"/>
          <p:nvPr/>
        </p:nvSpPr>
        <p:spPr>
          <a:xfrm>
            <a:off x="504900" y="2754450"/>
            <a:ext cx="8134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 cambio</a:t>
            </a: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de un entorno físico a un entorno digital va a minimizar los riesgos de pérdida de datos, el límite de cupos de las aulas y el empalme de horarios en la agenda de los alumnos. El modelado propuesto establece las bases para que la institución cuente con un proceso ágil, seguro y automatizado para la toma de decisiones.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11" name="Google Shape;2311;p51"/>
          <p:cNvSpPr txBox="1"/>
          <p:nvPr/>
        </p:nvSpPr>
        <p:spPr>
          <a:xfrm>
            <a:off x="504900" y="1028075"/>
            <a:ext cx="813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En este caso práctico se ha demostrado que organizar bien las tablas con sus datos y conectar correctamente una tabla con otra es fundamental para que la información esté segura, ordenada y completa, evitando errores graves como que los datos se dupliquen o se borren por accidente.</a:t>
            </a:r>
            <a:endParaRPr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52"/>
          <p:cNvSpPr txBox="1"/>
          <p:nvPr>
            <p:ph type="title"/>
          </p:nvPr>
        </p:nvSpPr>
        <p:spPr>
          <a:xfrm>
            <a:off x="2624325" y="1620750"/>
            <a:ext cx="4429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